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7" r:id="rId2"/>
    <p:sldId id="258" r:id="rId3"/>
    <p:sldId id="259" r:id="rId4"/>
    <p:sldId id="260" r:id="rId5"/>
    <p:sldId id="261" r:id="rId6"/>
    <p:sldId id="262" r:id="rId7"/>
    <p:sldId id="263" r:id="rId8"/>
    <p:sldId id="264" r:id="rId9"/>
    <p:sldId id="265" r:id="rId10"/>
  </p:sldIdLst>
  <p:sldSz cx="18288000" cy="10287000"/>
  <p:notesSz cx="6858000" cy="9144000"/>
  <p:embeddedFontLst>
    <p:embeddedFont>
      <p:font typeface="Sitka Text" pitchFamily="2" charset="0"/>
      <p:regular r:id="rId12"/>
      <p:bold r:id="rId13"/>
      <p:italic r:id="rId14"/>
      <p:boldItalic r:id="rId15"/>
    </p:embeddedFont>
    <p:embeddedFont>
      <p:font typeface="Sitka Text Semibold" pitchFamily="2" charset="0"/>
      <p:bold r:id="rId16"/>
      <p:boldItalic r:id="rId17"/>
    </p:embeddedFont>
    <p:embeddedFont>
      <p:font typeface="Stars &amp; Love Bottom Heavy" panose="020B0604020202020204" charset="0"/>
      <p:regular r:id="rId18"/>
    </p:embeddedFont>
    <p:embeddedFont>
      <p:font typeface="Sylfaen" panose="010A0502050306030303" pitchFamily="18" charset="0"/>
      <p:regular r:id="rId19"/>
    </p:embeddedFont>
    <p:embeddedFont>
      <p:font typeface="Yeseva One"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DF30F9-A9D0-4205-B60C-F1B33C772084}" v="4" dt="2026-02-18T14:55:41.9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BD0C8E-4A61-49A5-9B5E-04A334809368}" type="datetimeFigureOut">
              <a:rPr lang="en-IN" smtClean="0"/>
              <a:t>25-02-2026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249623-60A2-4205-8C79-B37047073DF1}" type="slidenum">
              <a:rPr lang="en-IN" smtClean="0"/>
              <a:t>‹#›</a:t>
            </a:fld>
            <a:endParaRPr lang="en-IN"/>
          </a:p>
        </p:txBody>
      </p:sp>
    </p:spTree>
    <p:extLst>
      <p:ext uri="{BB962C8B-B14F-4D97-AF65-F5344CB8AC3E}">
        <p14:creationId xmlns:p14="http://schemas.microsoft.com/office/powerpoint/2010/main" val="640056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249623-60A2-4205-8C79-B37047073DF1}" type="slidenum">
              <a:rPr lang="en-IN" smtClean="0"/>
              <a:t>8</a:t>
            </a:fld>
            <a:endParaRPr lang="en-IN"/>
          </a:p>
        </p:txBody>
      </p:sp>
    </p:spTree>
    <p:extLst>
      <p:ext uri="{BB962C8B-B14F-4D97-AF65-F5344CB8AC3E}">
        <p14:creationId xmlns:p14="http://schemas.microsoft.com/office/powerpoint/2010/main" val="3053206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8" Type="http://schemas.openxmlformats.org/officeDocument/2006/relationships/hyperlink" Target="https://www.plusai.com/" TargetMode="External"/><Relationship Id="rId3" Type="http://schemas.openxmlformats.org/officeDocument/2006/relationships/image" Target="../media/image1.png"/><Relationship Id="rId7" Type="http://schemas.openxmlformats.org/officeDocument/2006/relationships/hyperlink" Target="https://www.slidewhisper.com/?utm_source=chatgpt.com"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9F4"/>
        </a:solidFill>
        <a:effectLst/>
      </p:bgPr>
    </p:bg>
    <p:spTree>
      <p:nvGrpSpPr>
        <p:cNvPr id="1" name=""/>
        <p:cNvGrpSpPr/>
        <p:nvPr/>
      </p:nvGrpSpPr>
      <p:grpSpPr>
        <a:xfrm>
          <a:off x="0" y="0"/>
          <a:ext cx="0" cy="0"/>
          <a:chOff x="0" y="0"/>
          <a:chExt cx="0" cy="0"/>
        </a:xfrm>
      </p:grpSpPr>
      <p:sp>
        <p:nvSpPr>
          <p:cNvPr id="5" name="Freeform 5"/>
          <p:cNvSpPr/>
          <p:nvPr/>
        </p:nvSpPr>
        <p:spPr>
          <a:xfrm rot="-744945">
            <a:off x="-1031935" y="8070214"/>
            <a:ext cx="3627734" cy="4306649"/>
          </a:xfrm>
          <a:custGeom>
            <a:avLst/>
            <a:gdLst/>
            <a:ahLst/>
            <a:cxnLst/>
            <a:rect l="l" t="t" r="r" b="b"/>
            <a:pathLst>
              <a:path w="3627734" h="4306649">
                <a:moveTo>
                  <a:pt x="0" y="0"/>
                </a:moveTo>
                <a:lnTo>
                  <a:pt x="3627734" y="0"/>
                </a:lnTo>
                <a:lnTo>
                  <a:pt x="3627734" y="4306649"/>
                </a:lnTo>
                <a:lnTo>
                  <a:pt x="0" y="43066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rot="8839705">
            <a:off x="-1685157" y="-1885088"/>
            <a:ext cx="5427713" cy="4174405"/>
          </a:xfrm>
          <a:custGeom>
            <a:avLst/>
            <a:gdLst/>
            <a:ahLst/>
            <a:cxnLst/>
            <a:rect l="l" t="t" r="r" b="b"/>
            <a:pathLst>
              <a:path w="5427713" h="4174405">
                <a:moveTo>
                  <a:pt x="0" y="0"/>
                </a:moveTo>
                <a:lnTo>
                  <a:pt x="5427714" y="0"/>
                </a:lnTo>
                <a:lnTo>
                  <a:pt x="5427714" y="4174405"/>
                </a:lnTo>
                <a:lnTo>
                  <a:pt x="0" y="417440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Freeform 11"/>
          <p:cNvSpPr/>
          <p:nvPr/>
        </p:nvSpPr>
        <p:spPr>
          <a:xfrm>
            <a:off x="15849600" y="876300"/>
            <a:ext cx="650849" cy="650849"/>
          </a:xfrm>
          <a:custGeom>
            <a:avLst/>
            <a:gdLst/>
            <a:ahLst/>
            <a:cxnLst/>
            <a:rect l="l" t="t" r="r" b="b"/>
            <a:pathLst>
              <a:path w="650849" h="650849">
                <a:moveTo>
                  <a:pt x="0" y="0"/>
                </a:moveTo>
                <a:lnTo>
                  <a:pt x="650850" y="0"/>
                </a:lnTo>
                <a:lnTo>
                  <a:pt x="650850" y="650850"/>
                </a:lnTo>
                <a:lnTo>
                  <a:pt x="0" y="6508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2" name="Freeform 12"/>
          <p:cNvSpPr/>
          <p:nvPr/>
        </p:nvSpPr>
        <p:spPr>
          <a:xfrm>
            <a:off x="6329805" y="8607451"/>
            <a:ext cx="650849" cy="650849"/>
          </a:xfrm>
          <a:custGeom>
            <a:avLst/>
            <a:gdLst/>
            <a:ahLst/>
            <a:cxnLst/>
            <a:rect l="l" t="t" r="r" b="b"/>
            <a:pathLst>
              <a:path w="650849" h="650849">
                <a:moveTo>
                  <a:pt x="0" y="0"/>
                </a:moveTo>
                <a:lnTo>
                  <a:pt x="650850" y="0"/>
                </a:lnTo>
                <a:lnTo>
                  <a:pt x="650850" y="650849"/>
                </a:lnTo>
                <a:lnTo>
                  <a:pt x="0" y="65084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3" name="TextBox 13"/>
          <p:cNvSpPr txBox="1"/>
          <p:nvPr/>
        </p:nvSpPr>
        <p:spPr>
          <a:xfrm>
            <a:off x="4489598" y="445491"/>
            <a:ext cx="8312001" cy="1512465"/>
          </a:xfrm>
          <a:prstGeom prst="rect">
            <a:avLst/>
          </a:prstGeom>
        </p:spPr>
        <p:txBody>
          <a:bodyPr wrap="square" lIns="0" tIns="0" rIns="0" bIns="0" rtlCol="0" anchor="t">
            <a:spAutoFit/>
          </a:bodyPr>
          <a:lstStyle/>
          <a:p>
            <a:pPr algn="l">
              <a:lnSpc>
                <a:spcPts val="12740"/>
              </a:lnSpc>
            </a:pPr>
            <a:r>
              <a:rPr lang="en-US" sz="9100" spc="-327" dirty="0">
                <a:solidFill>
                  <a:schemeClr val="accent4">
                    <a:lumMod val="50000"/>
                  </a:schemeClr>
                </a:solidFill>
                <a:latin typeface="Yeseva One"/>
                <a:ea typeface="Yeseva One"/>
                <a:cs typeface="Yeseva One"/>
                <a:sym typeface="Yeseva One"/>
              </a:rPr>
              <a:t>Talk Track AI:</a:t>
            </a:r>
          </a:p>
        </p:txBody>
      </p:sp>
      <p:sp>
        <p:nvSpPr>
          <p:cNvPr id="16" name="TextBox 15">
            <a:extLst>
              <a:ext uri="{FF2B5EF4-FFF2-40B4-BE49-F238E27FC236}">
                <a16:creationId xmlns:a16="http://schemas.microsoft.com/office/drawing/2014/main" id="{46E07522-AF2C-95B9-2490-081C77FF110F}"/>
              </a:ext>
            </a:extLst>
          </p:cNvPr>
          <p:cNvSpPr txBox="1"/>
          <p:nvPr/>
        </p:nvSpPr>
        <p:spPr>
          <a:xfrm>
            <a:off x="3366448" y="3040669"/>
            <a:ext cx="13411200" cy="1200329"/>
          </a:xfrm>
          <a:prstGeom prst="rect">
            <a:avLst/>
          </a:prstGeom>
          <a:noFill/>
        </p:spPr>
        <p:txBody>
          <a:bodyPr wrap="square">
            <a:spAutoFit/>
          </a:bodyPr>
          <a:lstStyle/>
          <a:p>
            <a:r>
              <a:rPr lang="en-US" sz="7200" spc="-327" dirty="0">
                <a:solidFill>
                  <a:schemeClr val="accent4">
                    <a:lumMod val="50000"/>
                  </a:schemeClr>
                </a:solidFill>
                <a:latin typeface="Sitka Text Semibold" pitchFamily="2" charset="0"/>
                <a:ea typeface="Verdana" panose="020B0604030504040204" pitchFamily="34" charset="0"/>
                <a:cs typeface="Yeseva One"/>
                <a:sym typeface="Yeseva One"/>
              </a:rPr>
              <a:t>A Real-Time Voice-Based</a:t>
            </a:r>
            <a:endParaRPr lang="en-IN" sz="7200" dirty="0">
              <a:solidFill>
                <a:schemeClr val="accent4">
                  <a:lumMod val="50000"/>
                </a:schemeClr>
              </a:solidFill>
              <a:latin typeface="Sitka Text Semibold" pitchFamily="2" charset="0"/>
              <a:ea typeface="Verdana" panose="020B0604030504040204" pitchFamily="34" charset="0"/>
            </a:endParaRPr>
          </a:p>
        </p:txBody>
      </p:sp>
      <p:sp>
        <p:nvSpPr>
          <p:cNvPr id="18" name="TextBox 17">
            <a:extLst>
              <a:ext uri="{FF2B5EF4-FFF2-40B4-BE49-F238E27FC236}">
                <a16:creationId xmlns:a16="http://schemas.microsoft.com/office/drawing/2014/main" id="{A0CADD53-C224-D704-91A1-67B7DD5D82EE}"/>
              </a:ext>
            </a:extLst>
          </p:cNvPr>
          <p:cNvSpPr txBox="1"/>
          <p:nvPr/>
        </p:nvSpPr>
        <p:spPr>
          <a:xfrm>
            <a:off x="3770194" y="4146548"/>
            <a:ext cx="12052110" cy="1200329"/>
          </a:xfrm>
          <a:prstGeom prst="rect">
            <a:avLst/>
          </a:prstGeom>
          <a:noFill/>
        </p:spPr>
        <p:txBody>
          <a:bodyPr wrap="square">
            <a:spAutoFit/>
          </a:bodyPr>
          <a:lstStyle/>
          <a:p>
            <a:r>
              <a:rPr lang="en-US" sz="7200" spc="-327" dirty="0">
                <a:solidFill>
                  <a:schemeClr val="accent4">
                    <a:lumMod val="50000"/>
                  </a:schemeClr>
                </a:solidFill>
                <a:latin typeface="Sitka Text Semibold" pitchFamily="2" charset="0"/>
                <a:ea typeface="Verdana" panose="020B0604030504040204" pitchFamily="34" charset="0"/>
                <a:cs typeface="Yeseva One"/>
                <a:sym typeface="Yeseva One"/>
              </a:rPr>
              <a:t>Presentation Assistant </a:t>
            </a:r>
            <a:endParaRPr lang="en-IN" sz="7200" dirty="0">
              <a:latin typeface="Sitka Text Semibold" pitchFamily="2" charset="0"/>
            </a:endParaRPr>
          </a:p>
        </p:txBody>
      </p:sp>
      <p:sp>
        <p:nvSpPr>
          <p:cNvPr id="20" name="TextBox 19">
            <a:extLst>
              <a:ext uri="{FF2B5EF4-FFF2-40B4-BE49-F238E27FC236}">
                <a16:creationId xmlns:a16="http://schemas.microsoft.com/office/drawing/2014/main" id="{D2F82B60-692A-5FBB-ECAA-D6F8B97BDD5C}"/>
              </a:ext>
            </a:extLst>
          </p:cNvPr>
          <p:cNvSpPr txBox="1"/>
          <p:nvPr/>
        </p:nvSpPr>
        <p:spPr>
          <a:xfrm>
            <a:off x="12344400" y="7238142"/>
            <a:ext cx="10338178" cy="984885"/>
          </a:xfrm>
          <a:prstGeom prst="rect">
            <a:avLst/>
          </a:prstGeom>
          <a:noFill/>
        </p:spPr>
        <p:txBody>
          <a:bodyPr wrap="square">
            <a:spAutoFit/>
          </a:bodyPr>
          <a:lstStyle/>
          <a:p>
            <a:r>
              <a:rPr lang="en-US" sz="4000" spc="-327" dirty="0">
                <a:solidFill>
                  <a:schemeClr val="accent4">
                    <a:lumMod val="50000"/>
                  </a:schemeClr>
                </a:solidFill>
                <a:latin typeface="Sylfaen" panose="010A0502050306030303" pitchFamily="18" charset="0"/>
                <a:ea typeface="Verdana" panose="020B0604030504040204" pitchFamily="34" charset="0"/>
                <a:sym typeface="Yeseva One"/>
              </a:rPr>
              <a:t>Presented by :</a:t>
            </a:r>
          </a:p>
          <a:p>
            <a:endParaRPr lang="en-IN" dirty="0"/>
          </a:p>
        </p:txBody>
      </p:sp>
      <p:sp>
        <p:nvSpPr>
          <p:cNvPr id="22" name="TextBox 21">
            <a:extLst>
              <a:ext uri="{FF2B5EF4-FFF2-40B4-BE49-F238E27FC236}">
                <a16:creationId xmlns:a16="http://schemas.microsoft.com/office/drawing/2014/main" id="{85DE845E-6EED-39F2-0C2E-2A937DEA3DC2}"/>
              </a:ext>
            </a:extLst>
          </p:cNvPr>
          <p:cNvSpPr txBox="1"/>
          <p:nvPr/>
        </p:nvSpPr>
        <p:spPr>
          <a:xfrm>
            <a:off x="11811000" y="8018475"/>
            <a:ext cx="6324600" cy="2369880"/>
          </a:xfrm>
          <a:prstGeom prst="rect">
            <a:avLst/>
          </a:prstGeom>
          <a:noFill/>
        </p:spPr>
        <p:txBody>
          <a:bodyPr wrap="square">
            <a:spAutoFit/>
          </a:bodyPr>
          <a:lstStyle/>
          <a:p>
            <a:r>
              <a:rPr lang="en-US" sz="3600" spc="-327" dirty="0">
                <a:solidFill>
                  <a:schemeClr val="accent4">
                    <a:lumMod val="50000"/>
                  </a:schemeClr>
                </a:solidFill>
                <a:latin typeface="Sitka Text" pitchFamily="2" charset="0"/>
                <a:ea typeface="Verdana" panose="020B0604030504040204" pitchFamily="34" charset="0"/>
                <a:cs typeface="Yeseva One"/>
                <a:sym typeface="Yeseva One"/>
              </a:rPr>
              <a:t>E . Kavya (24AG1A6621</a:t>
            </a:r>
            <a:r>
              <a:rPr lang="en-US" sz="4000" spc="-327" dirty="0">
                <a:solidFill>
                  <a:schemeClr val="accent4">
                    <a:lumMod val="50000"/>
                  </a:schemeClr>
                </a:solidFill>
                <a:latin typeface="Sitka Text" pitchFamily="2" charset="0"/>
                <a:ea typeface="Verdana" panose="020B0604030504040204" pitchFamily="34" charset="0"/>
                <a:cs typeface="Yeseva One"/>
                <a:sym typeface="Yeseva One"/>
              </a:rPr>
              <a:t>)</a:t>
            </a:r>
          </a:p>
          <a:p>
            <a:r>
              <a:rPr lang="en-US" sz="3600" spc="-327" dirty="0">
                <a:solidFill>
                  <a:schemeClr val="accent4">
                    <a:lumMod val="50000"/>
                  </a:schemeClr>
                </a:solidFill>
                <a:latin typeface="Sitka Text" pitchFamily="2" charset="0"/>
                <a:ea typeface="Verdana" panose="020B0604030504040204" pitchFamily="34" charset="0"/>
                <a:cs typeface="Yeseva One"/>
                <a:sym typeface="Yeseva One"/>
              </a:rPr>
              <a:t>B . Pradeepthi (24AG1A6610)</a:t>
            </a:r>
          </a:p>
          <a:p>
            <a:r>
              <a:rPr lang="en-US" sz="3600" spc="-327" dirty="0">
                <a:solidFill>
                  <a:schemeClr val="accent4">
                    <a:lumMod val="50000"/>
                  </a:schemeClr>
                </a:solidFill>
                <a:latin typeface="Sitka Text" pitchFamily="2" charset="0"/>
                <a:ea typeface="Verdana" panose="020B0604030504040204" pitchFamily="34" charset="0"/>
                <a:sym typeface="Yeseva One"/>
              </a:rPr>
              <a:t>B . Ramcharan (24AG1A6609)</a:t>
            </a:r>
          </a:p>
          <a:p>
            <a:endParaRPr lang="en-IN"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9F4"/>
        </a:solidFill>
        <a:effectLst/>
      </p:bgPr>
    </p:bg>
    <p:spTree>
      <p:nvGrpSpPr>
        <p:cNvPr id="1" name=""/>
        <p:cNvGrpSpPr/>
        <p:nvPr/>
      </p:nvGrpSpPr>
      <p:grpSpPr>
        <a:xfrm>
          <a:off x="0" y="0"/>
          <a:ext cx="0" cy="0"/>
          <a:chOff x="0" y="0"/>
          <a:chExt cx="0" cy="0"/>
        </a:xfrm>
      </p:grpSpPr>
      <p:sp>
        <p:nvSpPr>
          <p:cNvPr id="5" name="Freeform 5"/>
          <p:cNvSpPr/>
          <p:nvPr/>
        </p:nvSpPr>
        <p:spPr>
          <a:xfrm rot="-744945">
            <a:off x="-1031935" y="8070214"/>
            <a:ext cx="3627734" cy="4306649"/>
          </a:xfrm>
          <a:custGeom>
            <a:avLst/>
            <a:gdLst/>
            <a:ahLst/>
            <a:cxnLst/>
            <a:rect l="l" t="t" r="r" b="b"/>
            <a:pathLst>
              <a:path w="3627734" h="4306649">
                <a:moveTo>
                  <a:pt x="0" y="0"/>
                </a:moveTo>
                <a:lnTo>
                  <a:pt x="3627734" y="0"/>
                </a:lnTo>
                <a:lnTo>
                  <a:pt x="3627734" y="4306649"/>
                </a:lnTo>
                <a:lnTo>
                  <a:pt x="0" y="43066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rot="8839705">
            <a:off x="-1677334" y="-1741991"/>
            <a:ext cx="5177737" cy="3982150"/>
          </a:xfrm>
          <a:custGeom>
            <a:avLst/>
            <a:gdLst/>
            <a:ahLst/>
            <a:cxnLst/>
            <a:rect l="l" t="t" r="r" b="b"/>
            <a:pathLst>
              <a:path w="5177737" h="3982150">
                <a:moveTo>
                  <a:pt x="0" y="0"/>
                </a:moveTo>
                <a:lnTo>
                  <a:pt x="5177737" y="0"/>
                </a:lnTo>
                <a:lnTo>
                  <a:pt x="5177737" y="3982151"/>
                </a:lnTo>
                <a:lnTo>
                  <a:pt x="0" y="3982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TextBox 11"/>
          <p:cNvSpPr txBox="1"/>
          <p:nvPr/>
        </p:nvSpPr>
        <p:spPr>
          <a:xfrm>
            <a:off x="6347639" y="469698"/>
            <a:ext cx="7032331" cy="1609087"/>
          </a:xfrm>
          <a:prstGeom prst="rect">
            <a:avLst/>
          </a:prstGeom>
        </p:spPr>
        <p:txBody>
          <a:bodyPr lIns="0" tIns="0" rIns="0" bIns="0" rtlCol="0" anchor="t">
            <a:spAutoFit/>
          </a:bodyPr>
          <a:lstStyle/>
          <a:p>
            <a:pPr algn="l">
              <a:lnSpc>
                <a:spcPts val="13160"/>
              </a:lnSpc>
            </a:pPr>
            <a:r>
              <a:rPr lang="en-US" sz="9400" spc="-338" dirty="0">
                <a:solidFill>
                  <a:schemeClr val="bg2">
                    <a:lumMod val="25000"/>
                  </a:schemeClr>
                </a:solidFill>
                <a:latin typeface="Yeseva One"/>
                <a:ea typeface="Yeseva One"/>
                <a:cs typeface="Yeseva One"/>
                <a:sym typeface="Yeseva One"/>
              </a:rPr>
              <a:t>Abstract</a:t>
            </a:r>
          </a:p>
        </p:txBody>
      </p:sp>
      <p:sp>
        <p:nvSpPr>
          <p:cNvPr id="12" name="TextBox 12"/>
          <p:cNvSpPr txBox="1"/>
          <p:nvPr/>
        </p:nvSpPr>
        <p:spPr>
          <a:xfrm>
            <a:off x="1752600" y="2857009"/>
            <a:ext cx="15392400" cy="5416868"/>
          </a:xfrm>
          <a:prstGeom prst="rect">
            <a:avLst/>
          </a:prstGeom>
        </p:spPr>
        <p:txBody>
          <a:bodyPr wrap="square" lIns="0" tIns="0" rIns="0" bIns="0" rtlCol="0" anchor="t">
            <a:spAutoFit/>
          </a:bodyPr>
          <a:lstStyle/>
          <a:p>
            <a:pPr algn="just"/>
            <a:r>
              <a:rPr lang="en-US" sz="4400" spc="-327" dirty="0">
                <a:solidFill>
                  <a:schemeClr val="accent4">
                    <a:lumMod val="50000"/>
                  </a:schemeClr>
                </a:solidFill>
                <a:latin typeface="Aptos" panose="020B0004020202020204" pitchFamily="34" charset="0"/>
                <a:ea typeface="Verdana" panose="020B0604030504040204" pitchFamily="34" charset="0"/>
                <a:cs typeface="Yeseva One"/>
                <a:sym typeface="Yeseva One"/>
              </a:rPr>
              <a:t>Presentation Assistant Talk Track AI is a real-time voice-based presentation assistant that helps improve public speaking skills. It listens to live presentations and analyzes speech parameters such as clarity, pace, tone, pauses, and filler word usage. Using speech recognition, NLP, and machine learning, it provides instant feedback and actionable suggestions to enhance delivery and confidence. The system can be used in classrooms, interviews, and corporate training, acting as a smart virtual speaking coach to improve overall communication effectiveness.</a:t>
            </a:r>
            <a:endParaRPr lang="en-US" sz="4400" dirty="0">
              <a:solidFill>
                <a:srgbClr val="54372A"/>
              </a:solidFill>
              <a:latin typeface="Aptos" panose="020B0004020202020204" pitchFamily="34" charset="0"/>
              <a:ea typeface="Lora"/>
              <a:cs typeface="Lora"/>
              <a:sym typeface="Lora"/>
            </a:endParaRPr>
          </a:p>
        </p:txBody>
      </p:sp>
      <p:sp>
        <p:nvSpPr>
          <p:cNvPr id="13" name="Freeform 13"/>
          <p:cNvSpPr/>
          <p:nvPr/>
        </p:nvSpPr>
        <p:spPr>
          <a:xfrm>
            <a:off x="15925800" y="800100"/>
            <a:ext cx="747791" cy="747791"/>
          </a:xfrm>
          <a:custGeom>
            <a:avLst/>
            <a:gdLst/>
            <a:ahLst/>
            <a:cxnLst/>
            <a:rect l="l" t="t" r="r" b="b"/>
            <a:pathLst>
              <a:path w="747791" h="747791">
                <a:moveTo>
                  <a:pt x="0" y="0"/>
                </a:moveTo>
                <a:lnTo>
                  <a:pt x="747791" y="0"/>
                </a:lnTo>
                <a:lnTo>
                  <a:pt x="747791" y="747791"/>
                </a:lnTo>
                <a:lnTo>
                  <a:pt x="0" y="7477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4" name="Freeform 14"/>
          <p:cNvSpPr/>
          <p:nvPr/>
        </p:nvSpPr>
        <p:spPr>
          <a:xfrm>
            <a:off x="6329805" y="8607451"/>
            <a:ext cx="650849" cy="650849"/>
          </a:xfrm>
          <a:custGeom>
            <a:avLst/>
            <a:gdLst/>
            <a:ahLst/>
            <a:cxnLst/>
            <a:rect l="l" t="t" r="r" b="b"/>
            <a:pathLst>
              <a:path w="650849" h="650849">
                <a:moveTo>
                  <a:pt x="0" y="0"/>
                </a:moveTo>
                <a:lnTo>
                  <a:pt x="650850" y="0"/>
                </a:lnTo>
                <a:lnTo>
                  <a:pt x="650850" y="650849"/>
                </a:lnTo>
                <a:lnTo>
                  <a:pt x="0" y="65084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9F4"/>
        </a:solidFill>
        <a:effectLst/>
      </p:bgPr>
    </p:bg>
    <p:spTree>
      <p:nvGrpSpPr>
        <p:cNvPr id="1" name=""/>
        <p:cNvGrpSpPr/>
        <p:nvPr/>
      </p:nvGrpSpPr>
      <p:grpSpPr>
        <a:xfrm>
          <a:off x="0" y="0"/>
          <a:ext cx="0" cy="0"/>
          <a:chOff x="0" y="0"/>
          <a:chExt cx="0" cy="0"/>
        </a:xfrm>
      </p:grpSpPr>
      <p:sp>
        <p:nvSpPr>
          <p:cNvPr id="5" name="Freeform 5"/>
          <p:cNvSpPr/>
          <p:nvPr/>
        </p:nvSpPr>
        <p:spPr>
          <a:xfrm rot="-744945">
            <a:off x="-1031935" y="8070214"/>
            <a:ext cx="3627734" cy="4306649"/>
          </a:xfrm>
          <a:custGeom>
            <a:avLst/>
            <a:gdLst/>
            <a:ahLst/>
            <a:cxnLst/>
            <a:rect l="l" t="t" r="r" b="b"/>
            <a:pathLst>
              <a:path w="3627734" h="4306649">
                <a:moveTo>
                  <a:pt x="0" y="0"/>
                </a:moveTo>
                <a:lnTo>
                  <a:pt x="3627734" y="0"/>
                </a:lnTo>
                <a:lnTo>
                  <a:pt x="3627734" y="4306649"/>
                </a:lnTo>
                <a:lnTo>
                  <a:pt x="0" y="43066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rot="8839705">
            <a:off x="-1677334" y="-1741991"/>
            <a:ext cx="5177737" cy="3982150"/>
          </a:xfrm>
          <a:custGeom>
            <a:avLst/>
            <a:gdLst/>
            <a:ahLst/>
            <a:cxnLst/>
            <a:rect l="l" t="t" r="r" b="b"/>
            <a:pathLst>
              <a:path w="5177737" h="3982150">
                <a:moveTo>
                  <a:pt x="0" y="0"/>
                </a:moveTo>
                <a:lnTo>
                  <a:pt x="5177737" y="0"/>
                </a:lnTo>
                <a:lnTo>
                  <a:pt x="5177737" y="3982151"/>
                </a:lnTo>
                <a:lnTo>
                  <a:pt x="0" y="3982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TextBox 11"/>
          <p:cNvSpPr txBox="1"/>
          <p:nvPr/>
        </p:nvSpPr>
        <p:spPr>
          <a:xfrm>
            <a:off x="5775413" y="612284"/>
            <a:ext cx="7484964" cy="1203325"/>
          </a:xfrm>
          <a:prstGeom prst="rect">
            <a:avLst/>
          </a:prstGeom>
        </p:spPr>
        <p:txBody>
          <a:bodyPr lIns="0" tIns="0" rIns="0" bIns="0" rtlCol="0" anchor="t">
            <a:spAutoFit/>
          </a:bodyPr>
          <a:lstStyle/>
          <a:p>
            <a:pPr algn="l">
              <a:lnSpc>
                <a:spcPts val="9800"/>
              </a:lnSpc>
            </a:pPr>
            <a:r>
              <a:rPr lang="en-US" sz="7000" spc="-252" dirty="0">
                <a:solidFill>
                  <a:srgbClr val="54372A"/>
                </a:solidFill>
                <a:latin typeface="Yeseva One"/>
                <a:ea typeface="Yeseva One"/>
                <a:cs typeface="Yeseva One"/>
                <a:sym typeface="Yeseva One"/>
              </a:rPr>
              <a:t>Introduction</a:t>
            </a:r>
          </a:p>
        </p:txBody>
      </p:sp>
      <p:sp>
        <p:nvSpPr>
          <p:cNvPr id="13" name="Freeform 13"/>
          <p:cNvSpPr/>
          <p:nvPr/>
        </p:nvSpPr>
        <p:spPr>
          <a:xfrm>
            <a:off x="16078200" y="886341"/>
            <a:ext cx="747791" cy="747791"/>
          </a:xfrm>
          <a:custGeom>
            <a:avLst/>
            <a:gdLst/>
            <a:ahLst/>
            <a:cxnLst/>
            <a:rect l="l" t="t" r="r" b="b"/>
            <a:pathLst>
              <a:path w="747791" h="747791">
                <a:moveTo>
                  <a:pt x="0" y="0"/>
                </a:moveTo>
                <a:lnTo>
                  <a:pt x="747791" y="0"/>
                </a:lnTo>
                <a:lnTo>
                  <a:pt x="747791" y="747791"/>
                </a:lnTo>
                <a:lnTo>
                  <a:pt x="0" y="7477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4" name="Freeform 14"/>
          <p:cNvSpPr/>
          <p:nvPr/>
        </p:nvSpPr>
        <p:spPr>
          <a:xfrm>
            <a:off x="6329805" y="8607451"/>
            <a:ext cx="650849" cy="650849"/>
          </a:xfrm>
          <a:custGeom>
            <a:avLst/>
            <a:gdLst/>
            <a:ahLst/>
            <a:cxnLst/>
            <a:rect l="l" t="t" r="r" b="b"/>
            <a:pathLst>
              <a:path w="650849" h="650849">
                <a:moveTo>
                  <a:pt x="0" y="0"/>
                </a:moveTo>
                <a:lnTo>
                  <a:pt x="650850" y="0"/>
                </a:lnTo>
                <a:lnTo>
                  <a:pt x="650850" y="650849"/>
                </a:lnTo>
                <a:lnTo>
                  <a:pt x="0" y="65084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24" name="Rectangle 8">
            <a:extLst>
              <a:ext uri="{FF2B5EF4-FFF2-40B4-BE49-F238E27FC236}">
                <a16:creationId xmlns:a16="http://schemas.microsoft.com/office/drawing/2014/main" id="{4419319C-0266-96DB-B1B9-96D5626D7ED5}"/>
              </a:ext>
            </a:extLst>
          </p:cNvPr>
          <p:cNvSpPr>
            <a:spLocks noChangeArrowheads="1"/>
          </p:cNvSpPr>
          <p:nvPr/>
        </p:nvSpPr>
        <p:spPr bwMode="auto">
          <a:xfrm>
            <a:off x="0" y="517009"/>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3" name="TextBox 2">
            <a:extLst>
              <a:ext uri="{FF2B5EF4-FFF2-40B4-BE49-F238E27FC236}">
                <a16:creationId xmlns:a16="http://schemas.microsoft.com/office/drawing/2014/main" id="{0F201F2A-93E8-4B46-14A8-2E3B1843E8A7}"/>
              </a:ext>
            </a:extLst>
          </p:cNvPr>
          <p:cNvSpPr txBox="1"/>
          <p:nvPr/>
        </p:nvSpPr>
        <p:spPr>
          <a:xfrm>
            <a:off x="2158349" y="3285076"/>
            <a:ext cx="14719092" cy="5078313"/>
          </a:xfrm>
          <a:prstGeom prst="rect">
            <a:avLst/>
          </a:prstGeom>
          <a:noFill/>
        </p:spPr>
        <p:txBody>
          <a:bodyPr wrap="square">
            <a:spAutoFit/>
          </a:bodyPr>
          <a:lstStyle/>
          <a:p>
            <a:r>
              <a:rPr lang="en-IN" sz="3600" dirty="0">
                <a:solidFill>
                  <a:schemeClr val="accent4">
                    <a:lumMod val="50000"/>
                  </a:schemeClr>
                </a:solidFill>
                <a:latin typeface="Aptos" panose="020B0004020202020204" pitchFamily="34" charset="0"/>
                <a:cs typeface="Arial" panose="020B0604020202020204" pitchFamily="34" charset="0"/>
              </a:rPr>
              <a:t>Talk Track AI: A Real-Time Voice-Based Presentation Assistant The title Talk Track AI represents an intelligent system designed to enhance presentation skills. “Talk Track” refers to the speaker’s flow and delivery during a presentation, while “AI” signifies the use of Artificial Intelligence to </a:t>
            </a:r>
            <a:r>
              <a:rPr lang="en-IN" sz="3600" dirty="0" err="1">
                <a:solidFill>
                  <a:schemeClr val="accent4">
                    <a:lumMod val="50000"/>
                  </a:schemeClr>
                </a:solidFill>
                <a:latin typeface="Aptos" panose="020B0004020202020204" pitchFamily="34" charset="0"/>
                <a:cs typeface="Arial" panose="020B0604020202020204" pitchFamily="34" charset="0"/>
              </a:rPr>
              <a:t>analyze</a:t>
            </a:r>
            <a:r>
              <a:rPr lang="en-IN" sz="3600" dirty="0">
                <a:solidFill>
                  <a:schemeClr val="accent4">
                    <a:lumMod val="50000"/>
                  </a:schemeClr>
                </a:solidFill>
                <a:latin typeface="Aptos" panose="020B0004020202020204" pitchFamily="34" charset="0"/>
                <a:cs typeface="Arial" panose="020B0604020202020204" pitchFamily="34" charset="0"/>
              </a:rPr>
              <a:t> speech patterns. As a real-time voice-based presentation assistant, the system listens to the speaker during a PPT presentation and provides instant feedback on clarity, pace, tone, and confidence. It acts as a smart communication coach to help users deliver more effective and confident presentations</a:t>
            </a:r>
            <a:r>
              <a:rPr lang="en-IN" sz="3600" dirty="0">
                <a:latin typeface="Arial" panose="020B0604020202020204" pitchFamily="34" charset="0"/>
                <a:cs typeface="Arial" panose="020B0604020202020204" pitchFamily="34"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9F4"/>
        </a:solidFill>
        <a:effectLst/>
      </p:bgPr>
    </p:bg>
    <p:spTree>
      <p:nvGrpSpPr>
        <p:cNvPr id="1" name=""/>
        <p:cNvGrpSpPr/>
        <p:nvPr/>
      </p:nvGrpSpPr>
      <p:grpSpPr>
        <a:xfrm>
          <a:off x="0" y="0"/>
          <a:ext cx="0" cy="0"/>
          <a:chOff x="0" y="0"/>
          <a:chExt cx="0" cy="0"/>
        </a:xfrm>
      </p:grpSpPr>
      <p:sp>
        <p:nvSpPr>
          <p:cNvPr id="5" name="Freeform 5"/>
          <p:cNvSpPr/>
          <p:nvPr/>
        </p:nvSpPr>
        <p:spPr>
          <a:xfrm rot="-744945">
            <a:off x="-1031935" y="8070214"/>
            <a:ext cx="3627734" cy="4306649"/>
          </a:xfrm>
          <a:custGeom>
            <a:avLst/>
            <a:gdLst/>
            <a:ahLst/>
            <a:cxnLst/>
            <a:rect l="l" t="t" r="r" b="b"/>
            <a:pathLst>
              <a:path w="3627734" h="4306649">
                <a:moveTo>
                  <a:pt x="0" y="0"/>
                </a:moveTo>
                <a:lnTo>
                  <a:pt x="3627734" y="0"/>
                </a:lnTo>
                <a:lnTo>
                  <a:pt x="3627734" y="4306649"/>
                </a:lnTo>
                <a:lnTo>
                  <a:pt x="0" y="43066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rot="8839705">
            <a:off x="-1635295" y="-1754312"/>
            <a:ext cx="5118801" cy="3936824"/>
          </a:xfrm>
          <a:custGeom>
            <a:avLst/>
            <a:gdLst/>
            <a:ahLst/>
            <a:cxnLst/>
            <a:rect l="l" t="t" r="r" b="b"/>
            <a:pathLst>
              <a:path w="5118801" h="3936824">
                <a:moveTo>
                  <a:pt x="0" y="0"/>
                </a:moveTo>
                <a:lnTo>
                  <a:pt x="5118801" y="0"/>
                </a:lnTo>
                <a:lnTo>
                  <a:pt x="5118801" y="3936824"/>
                </a:lnTo>
                <a:lnTo>
                  <a:pt x="0" y="39368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3" name="Freeform 13"/>
          <p:cNvSpPr/>
          <p:nvPr/>
        </p:nvSpPr>
        <p:spPr>
          <a:xfrm>
            <a:off x="15849600" y="952500"/>
            <a:ext cx="747791" cy="747791"/>
          </a:xfrm>
          <a:custGeom>
            <a:avLst/>
            <a:gdLst/>
            <a:ahLst/>
            <a:cxnLst/>
            <a:rect l="l" t="t" r="r" b="b"/>
            <a:pathLst>
              <a:path w="747791" h="747791">
                <a:moveTo>
                  <a:pt x="0" y="0"/>
                </a:moveTo>
                <a:lnTo>
                  <a:pt x="747791" y="0"/>
                </a:lnTo>
                <a:lnTo>
                  <a:pt x="747791" y="747791"/>
                </a:lnTo>
                <a:lnTo>
                  <a:pt x="0" y="7477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4" name="Freeform 14"/>
          <p:cNvSpPr/>
          <p:nvPr/>
        </p:nvSpPr>
        <p:spPr>
          <a:xfrm>
            <a:off x="5115650" y="9258300"/>
            <a:ext cx="650849" cy="650849"/>
          </a:xfrm>
          <a:custGeom>
            <a:avLst/>
            <a:gdLst/>
            <a:ahLst/>
            <a:cxnLst/>
            <a:rect l="l" t="t" r="r" b="b"/>
            <a:pathLst>
              <a:path w="650849" h="650849">
                <a:moveTo>
                  <a:pt x="0" y="0"/>
                </a:moveTo>
                <a:lnTo>
                  <a:pt x="650850" y="0"/>
                </a:lnTo>
                <a:lnTo>
                  <a:pt x="650850" y="650849"/>
                </a:lnTo>
                <a:lnTo>
                  <a:pt x="0" y="65084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5" name="TextBox 15"/>
          <p:cNvSpPr txBox="1"/>
          <p:nvPr/>
        </p:nvSpPr>
        <p:spPr>
          <a:xfrm>
            <a:off x="5876658" y="419100"/>
            <a:ext cx="7405850" cy="1493742"/>
          </a:xfrm>
          <a:prstGeom prst="rect">
            <a:avLst/>
          </a:prstGeom>
        </p:spPr>
        <p:txBody>
          <a:bodyPr lIns="0" tIns="0" rIns="0" bIns="0" rtlCol="0" anchor="t">
            <a:spAutoFit/>
          </a:bodyPr>
          <a:lstStyle/>
          <a:p>
            <a:pPr algn="l">
              <a:lnSpc>
                <a:spcPts val="12740"/>
              </a:lnSpc>
            </a:pPr>
            <a:r>
              <a:rPr lang="en-US" sz="9100" spc="-327" dirty="0">
                <a:solidFill>
                  <a:srgbClr val="54372A"/>
                </a:solidFill>
                <a:latin typeface="Sitka Text Semibold" pitchFamily="2" charset="0"/>
                <a:ea typeface="Yeseva One"/>
                <a:cs typeface="Yeseva One"/>
                <a:sym typeface="Yeseva One"/>
              </a:rPr>
              <a:t>Overview</a:t>
            </a:r>
          </a:p>
        </p:txBody>
      </p:sp>
      <p:sp>
        <p:nvSpPr>
          <p:cNvPr id="3" name="TextBox 2">
            <a:extLst>
              <a:ext uri="{FF2B5EF4-FFF2-40B4-BE49-F238E27FC236}">
                <a16:creationId xmlns:a16="http://schemas.microsoft.com/office/drawing/2014/main" id="{9EBC77EB-5D07-1296-5BE5-EC90038F1EB2}"/>
              </a:ext>
            </a:extLst>
          </p:cNvPr>
          <p:cNvSpPr txBox="1"/>
          <p:nvPr/>
        </p:nvSpPr>
        <p:spPr>
          <a:xfrm>
            <a:off x="1371600" y="2621925"/>
            <a:ext cx="16154400" cy="5632311"/>
          </a:xfrm>
          <a:prstGeom prst="rect">
            <a:avLst/>
          </a:prstGeom>
          <a:noFill/>
        </p:spPr>
        <p:txBody>
          <a:bodyPr wrap="square">
            <a:spAutoFit/>
          </a:bodyPr>
          <a:lstStyle/>
          <a:p>
            <a:r>
              <a:rPr lang="en-IN" sz="4000" dirty="0">
                <a:solidFill>
                  <a:schemeClr val="accent4">
                    <a:lumMod val="50000"/>
                  </a:schemeClr>
                </a:solidFill>
                <a:latin typeface="Aptos" panose="020B0004020202020204" pitchFamily="34" charset="0"/>
                <a:cs typeface="Arial" panose="020B0604020202020204" pitchFamily="34" charset="0"/>
              </a:rPr>
              <a:t>Talk Track AI is a real-time AI-powered presentation </a:t>
            </a:r>
            <a:r>
              <a:rPr lang="en-IN" sz="4000" dirty="0" err="1">
                <a:solidFill>
                  <a:schemeClr val="accent4">
                    <a:lumMod val="50000"/>
                  </a:schemeClr>
                </a:solidFill>
                <a:latin typeface="Aptos" panose="020B0004020202020204" pitchFamily="34" charset="0"/>
                <a:cs typeface="Arial" panose="020B0604020202020204" pitchFamily="34" charset="0"/>
              </a:rPr>
              <a:t>assistant.It</a:t>
            </a:r>
            <a:r>
              <a:rPr lang="en-IN" sz="4000" dirty="0">
                <a:solidFill>
                  <a:schemeClr val="accent4">
                    <a:lumMod val="50000"/>
                  </a:schemeClr>
                </a:solidFill>
                <a:latin typeface="Aptos" panose="020B0004020202020204" pitchFamily="34" charset="0"/>
                <a:cs typeface="Arial" panose="020B0604020202020204" pitchFamily="34" charset="0"/>
              </a:rPr>
              <a:t> listens to the speaker during a live </a:t>
            </a:r>
            <a:r>
              <a:rPr lang="en-IN" sz="4000" dirty="0" err="1">
                <a:solidFill>
                  <a:schemeClr val="accent4">
                    <a:lumMod val="50000"/>
                  </a:schemeClr>
                </a:solidFill>
                <a:latin typeface="Aptos" panose="020B0004020202020204" pitchFamily="34" charset="0"/>
                <a:cs typeface="Arial" panose="020B0604020202020204" pitchFamily="34" charset="0"/>
              </a:rPr>
              <a:t>presentation.The</a:t>
            </a:r>
            <a:r>
              <a:rPr lang="en-IN" sz="4000" dirty="0">
                <a:solidFill>
                  <a:schemeClr val="accent4">
                    <a:lumMod val="50000"/>
                  </a:schemeClr>
                </a:solidFill>
                <a:latin typeface="Aptos" panose="020B0004020202020204" pitchFamily="34" charset="0"/>
                <a:cs typeface="Arial" panose="020B0604020202020204" pitchFamily="34" charset="0"/>
              </a:rPr>
              <a:t> system processes voice input </a:t>
            </a:r>
            <a:r>
              <a:rPr lang="en-IN" sz="4000" dirty="0" err="1">
                <a:solidFill>
                  <a:schemeClr val="accent4">
                    <a:lumMod val="50000"/>
                  </a:schemeClr>
                </a:solidFill>
                <a:latin typeface="Aptos" panose="020B0004020202020204" pitchFamily="34" charset="0"/>
                <a:cs typeface="Arial" panose="020B0604020202020204" pitchFamily="34" charset="0"/>
              </a:rPr>
              <a:t>instantly.It</a:t>
            </a:r>
            <a:r>
              <a:rPr lang="en-IN" sz="4000" dirty="0">
                <a:solidFill>
                  <a:schemeClr val="accent4">
                    <a:lumMod val="50000"/>
                  </a:schemeClr>
                </a:solidFill>
                <a:latin typeface="Aptos" panose="020B0004020202020204" pitchFamily="34" charset="0"/>
                <a:cs typeface="Arial" panose="020B0604020202020204" pitchFamily="34" charset="0"/>
              </a:rPr>
              <a:t> </a:t>
            </a:r>
            <a:r>
              <a:rPr lang="en-IN" sz="4000" dirty="0" err="1">
                <a:solidFill>
                  <a:schemeClr val="accent4">
                    <a:lumMod val="50000"/>
                  </a:schemeClr>
                </a:solidFill>
                <a:latin typeface="Aptos" panose="020B0004020202020204" pitchFamily="34" charset="0"/>
                <a:cs typeface="Arial" panose="020B0604020202020204" pitchFamily="34" charset="0"/>
              </a:rPr>
              <a:t>analyzes</a:t>
            </a:r>
            <a:r>
              <a:rPr lang="en-IN" sz="4000" dirty="0">
                <a:solidFill>
                  <a:schemeClr val="accent4">
                    <a:lumMod val="50000"/>
                  </a:schemeClr>
                </a:solidFill>
                <a:latin typeface="Aptos" panose="020B0004020202020204" pitchFamily="34" charset="0"/>
                <a:cs typeface="Arial" panose="020B0604020202020204" pitchFamily="34" charset="0"/>
              </a:rPr>
              <a:t> speech using Artificial Intelligence algorithms.</a:t>
            </a:r>
          </a:p>
          <a:p>
            <a:r>
              <a:rPr lang="en-IN" sz="4000" dirty="0">
                <a:solidFill>
                  <a:schemeClr val="accent4">
                    <a:lumMod val="50000"/>
                  </a:schemeClr>
                </a:solidFill>
                <a:latin typeface="Aptos" panose="020B0004020202020204" pitchFamily="34" charset="0"/>
                <a:cs typeface="Arial" panose="020B0604020202020204" pitchFamily="34" charset="0"/>
              </a:rPr>
              <a:t>The main goal of this project is:</a:t>
            </a:r>
          </a:p>
          <a:p>
            <a:pPr marL="571500" indent="-571500">
              <a:buFont typeface="Arial" panose="020B0604020202020204" pitchFamily="34" charset="0"/>
              <a:buChar char="•"/>
            </a:pPr>
            <a:r>
              <a:rPr lang="en-IN" sz="4000" dirty="0">
                <a:solidFill>
                  <a:schemeClr val="accent4">
                    <a:lumMod val="50000"/>
                  </a:schemeClr>
                </a:solidFill>
                <a:latin typeface="Aptos" panose="020B0004020202020204" pitchFamily="34" charset="0"/>
                <a:cs typeface="Arial" panose="020B0604020202020204" pitchFamily="34" charset="0"/>
              </a:rPr>
              <a:t>To improve public speaking skills</a:t>
            </a:r>
          </a:p>
          <a:p>
            <a:pPr marL="571500" indent="-571500">
              <a:buFont typeface="Arial" panose="020B0604020202020204" pitchFamily="34" charset="0"/>
              <a:buChar char="•"/>
            </a:pPr>
            <a:r>
              <a:rPr lang="en-IN" sz="4000" dirty="0">
                <a:solidFill>
                  <a:schemeClr val="accent4">
                    <a:lumMod val="50000"/>
                  </a:schemeClr>
                </a:solidFill>
                <a:latin typeface="Aptos" panose="020B0004020202020204" pitchFamily="34" charset="0"/>
                <a:cs typeface="Arial" panose="020B0604020202020204" pitchFamily="34" charset="0"/>
              </a:rPr>
              <a:t>To provide real-time feedback</a:t>
            </a:r>
          </a:p>
          <a:p>
            <a:pPr marL="571500" indent="-571500">
              <a:buFont typeface="Arial" panose="020B0604020202020204" pitchFamily="34" charset="0"/>
              <a:buChar char="•"/>
            </a:pPr>
            <a:r>
              <a:rPr lang="en-IN" sz="4000" dirty="0">
                <a:solidFill>
                  <a:schemeClr val="accent4">
                    <a:lumMod val="50000"/>
                  </a:schemeClr>
                </a:solidFill>
                <a:latin typeface="Aptos" panose="020B0004020202020204" pitchFamily="34" charset="0"/>
                <a:cs typeface="Arial" panose="020B0604020202020204" pitchFamily="34" charset="0"/>
              </a:rPr>
              <a:t>To help speakers become confident communicators</a:t>
            </a:r>
          </a:p>
          <a:p>
            <a:r>
              <a:rPr lang="en-IN" sz="4000" dirty="0">
                <a:solidFill>
                  <a:schemeClr val="accent4">
                    <a:lumMod val="50000"/>
                  </a:schemeClr>
                </a:solidFill>
                <a:latin typeface="Aptos" panose="020B0004020202020204" pitchFamily="34" charset="0"/>
                <a:cs typeface="Arial" panose="020B0604020202020204" pitchFamily="34" charset="0"/>
              </a:rPr>
              <a:t>This system works in parallel with PowerPoint </a:t>
            </a:r>
            <a:r>
              <a:rPr lang="en-IN" sz="4000" dirty="0" err="1">
                <a:solidFill>
                  <a:schemeClr val="accent4">
                    <a:lumMod val="50000"/>
                  </a:schemeClr>
                </a:solidFill>
                <a:latin typeface="Aptos" panose="020B0004020202020204" pitchFamily="34" charset="0"/>
                <a:cs typeface="Arial" panose="020B0604020202020204" pitchFamily="34" charset="0"/>
              </a:rPr>
              <a:t>presentations.It</a:t>
            </a:r>
            <a:r>
              <a:rPr lang="en-IN" sz="4000" dirty="0">
                <a:solidFill>
                  <a:schemeClr val="accent4">
                    <a:lumMod val="50000"/>
                  </a:schemeClr>
                </a:solidFill>
                <a:latin typeface="Aptos" panose="020B0004020202020204" pitchFamily="34" charset="0"/>
                <a:cs typeface="Arial" panose="020B0604020202020204" pitchFamily="34" charset="0"/>
              </a:rPr>
              <a:t> acts as a smart communication coach during live sessions</a:t>
            </a:r>
            <a:r>
              <a:rPr lang="en-IN" sz="4000" dirty="0">
                <a:solidFill>
                  <a:schemeClr val="accent4">
                    <a:lumMod val="50000"/>
                  </a:schemeClr>
                </a:solidFill>
                <a:latin typeface="Aptos" panose="020B0004020202020204" pitchFamily="34"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9F4"/>
        </a:solidFill>
        <a:effectLst/>
      </p:bgPr>
    </p:bg>
    <p:spTree>
      <p:nvGrpSpPr>
        <p:cNvPr id="1" name=""/>
        <p:cNvGrpSpPr/>
        <p:nvPr/>
      </p:nvGrpSpPr>
      <p:grpSpPr>
        <a:xfrm>
          <a:off x="0" y="0"/>
          <a:ext cx="0" cy="0"/>
          <a:chOff x="0" y="0"/>
          <a:chExt cx="0" cy="0"/>
        </a:xfrm>
      </p:grpSpPr>
      <p:sp>
        <p:nvSpPr>
          <p:cNvPr id="10" name="Freeform 10"/>
          <p:cNvSpPr/>
          <p:nvPr/>
        </p:nvSpPr>
        <p:spPr>
          <a:xfrm rot="8839705">
            <a:off x="-1677334" y="-1741991"/>
            <a:ext cx="5177737" cy="3982150"/>
          </a:xfrm>
          <a:custGeom>
            <a:avLst/>
            <a:gdLst/>
            <a:ahLst/>
            <a:cxnLst/>
            <a:rect l="l" t="t" r="r" b="b"/>
            <a:pathLst>
              <a:path w="5177737" h="3982150">
                <a:moveTo>
                  <a:pt x="0" y="0"/>
                </a:moveTo>
                <a:lnTo>
                  <a:pt x="5177737" y="0"/>
                </a:lnTo>
                <a:lnTo>
                  <a:pt x="5177737" y="3982151"/>
                </a:lnTo>
                <a:lnTo>
                  <a:pt x="0" y="39821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5" name="TextBox 15"/>
          <p:cNvSpPr txBox="1"/>
          <p:nvPr/>
        </p:nvSpPr>
        <p:spPr>
          <a:xfrm>
            <a:off x="3810000" y="394217"/>
            <a:ext cx="12282650" cy="1512465"/>
          </a:xfrm>
          <a:prstGeom prst="rect">
            <a:avLst/>
          </a:prstGeom>
        </p:spPr>
        <p:txBody>
          <a:bodyPr wrap="square" lIns="0" tIns="0" rIns="0" bIns="0" rtlCol="0" anchor="t">
            <a:spAutoFit/>
          </a:bodyPr>
          <a:lstStyle/>
          <a:p>
            <a:pPr algn="l">
              <a:lnSpc>
                <a:spcPts val="12740"/>
              </a:lnSpc>
            </a:pPr>
            <a:r>
              <a:rPr lang="en-US" sz="8000" spc="-327" dirty="0">
                <a:solidFill>
                  <a:srgbClr val="54372A"/>
                </a:solidFill>
                <a:latin typeface="Yeseva One"/>
                <a:ea typeface="Yeseva One"/>
                <a:cs typeface="Yeseva One"/>
                <a:sym typeface="Yeseva One"/>
              </a:rPr>
              <a:t>How system works</a:t>
            </a:r>
          </a:p>
        </p:txBody>
      </p:sp>
      <p:pic>
        <p:nvPicPr>
          <p:cNvPr id="19" name="Picture 18" descr="A close-up of a person's face&#10;&#10;AI-generated content may be incorrect.">
            <a:extLst>
              <a:ext uri="{FF2B5EF4-FFF2-40B4-BE49-F238E27FC236}">
                <a16:creationId xmlns:a16="http://schemas.microsoft.com/office/drawing/2014/main" id="{757DEB27-EF44-8871-8570-0C08CC3B15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7495" y="2857500"/>
            <a:ext cx="6469505" cy="3514725"/>
          </a:xfrm>
          <a:prstGeom prst="rect">
            <a:avLst/>
          </a:prstGeom>
        </p:spPr>
      </p:pic>
      <p:sp>
        <p:nvSpPr>
          <p:cNvPr id="21" name="TextBox 20">
            <a:extLst>
              <a:ext uri="{FF2B5EF4-FFF2-40B4-BE49-F238E27FC236}">
                <a16:creationId xmlns:a16="http://schemas.microsoft.com/office/drawing/2014/main" id="{298A54BC-6CCD-6A74-A67E-DEB123AD1983}"/>
              </a:ext>
            </a:extLst>
          </p:cNvPr>
          <p:cNvSpPr txBox="1"/>
          <p:nvPr/>
        </p:nvSpPr>
        <p:spPr>
          <a:xfrm>
            <a:off x="1071796" y="2413813"/>
            <a:ext cx="10320728" cy="7478970"/>
          </a:xfrm>
          <a:prstGeom prst="rect">
            <a:avLst/>
          </a:prstGeom>
          <a:noFill/>
        </p:spPr>
        <p:txBody>
          <a:bodyPr wrap="square">
            <a:spAutoFit/>
          </a:bodyPr>
          <a:lstStyle/>
          <a:p>
            <a:r>
              <a:rPr lang="en-IN" sz="4000" dirty="0">
                <a:solidFill>
                  <a:schemeClr val="accent4">
                    <a:lumMod val="50000"/>
                  </a:schemeClr>
                </a:solidFill>
              </a:rPr>
              <a:t>The working process includes 5 main steps:</a:t>
            </a:r>
          </a:p>
          <a:p>
            <a:pPr marL="571500" indent="-571500">
              <a:buFont typeface="Wingdings" panose="05000000000000000000" pitchFamily="2" charset="2"/>
              <a:buChar char="§"/>
            </a:pPr>
            <a:r>
              <a:rPr lang="en-IN" sz="4000" dirty="0">
                <a:solidFill>
                  <a:schemeClr val="accent4">
                    <a:lumMod val="50000"/>
                  </a:schemeClr>
                </a:solidFill>
              </a:rPr>
              <a:t>Voice Input : Microphone captures live speech.</a:t>
            </a:r>
          </a:p>
          <a:p>
            <a:pPr marL="571500" indent="-571500">
              <a:buFont typeface="Wingdings" panose="05000000000000000000" pitchFamily="2" charset="2"/>
              <a:buChar char="§"/>
            </a:pPr>
            <a:r>
              <a:rPr lang="en-IN" sz="4000" dirty="0">
                <a:solidFill>
                  <a:schemeClr val="accent4">
                    <a:lumMod val="50000"/>
                  </a:schemeClr>
                </a:solidFill>
              </a:rPr>
              <a:t>Speech-to-Text Conversion : Audio is converted into text using speech recognition</a:t>
            </a:r>
          </a:p>
          <a:p>
            <a:pPr marL="571500" indent="-571500">
              <a:buFont typeface="Wingdings" panose="05000000000000000000" pitchFamily="2" charset="2"/>
              <a:buChar char="§"/>
            </a:pPr>
            <a:r>
              <a:rPr lang="en-IN" sz="4000" dirty="0">
                <a:solidFill>
                  <a:schemeClr val="accent4">
                    <a:lumMod val="50000"/>
                  </a:schemeClr>
                </a:solidFill>
              </a:rPr>
              <a:t>AI Analysis : The system analyses </a:t>
            </a:r>
            <a:r>
              <a:rPr lang="en-IN" sz="4000" dirty="0" err="1">
                <a:solidFill>
                  <a:schemeClr val="accent4">
                    <a:lumMod val="50000"/>
                  </a:schemeClr>
                </a:solidFill>
              </a:rPr>
              <a:t>PronunciationSpeed</a:t>
            </a:r>
            <a:r>
              <a:rPr lang="en-IN" sz="4000" dirty="0">
                <a:solidFill>
                  <a:schemeClr val="accent4">
                    <a:lumMod val="50000"/>
                  </a:schemeClr>
                </a:solidFill>
              </a:rPr>
              <a:t> , Tone , Filler words , Pauses </a:t>
            </a:r>
          </a:p>
          <a:p>
            <a:pPr marL="571500" indent="-571500">
              <a:buFont typeface="Wingdings" panose="05000000000000000000" pitchFamily="2" charset="2"/>
              <a:buChar char="§"/>
            </a:pPr>
            <a:r>
              <a:rPr lang="en-IN" sz="4000" dirty="0">
                <a:solidFill>
                  <a:schemeClr val="accent4">
                    <a:lumMod val="50000"/>
                  </a:schemeClr>
                </a:solidFill>
              </a:rPr>
              <a:t>Performance Evaluation : AI compares speech with ideal communication patterns.</a:t>
            </a:r>
          </a:p>
          <a:p>
            <a:pPr marL="571500" indent="-571500">
              <a:buFont typeface="Wingdings" panose="05000000000000000000" pitchFamily="2" charset="2"/>
              <a:buChar char="§"/>
            </a:pPr>
            <a:r>
              <a:rPr lang="en-IN" sz="4000" dirty="0">
                <a:solidFill>
                  <a:schemeClr val="accent4">
                    <a:lumMod val="50000"/>
                  </a:schemeClr>
                </a:solidFill>
              </a:rPr>
              <a:t>Real-Time Feedback : Feedback is shown instantly on screen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9F4"/>
        </a:solidFill>
        <a:effectLst/>
      </p:bgPr>
    </p:bg>
    <p:spTree>
      <p:nvGrpSpPr>
        <p:cNvPr id="1" name=""/>
        <p:cNvGrpSpPr/>
        <p:nvPr/>
      </p:nvGrpSpPr>
      <p:grpSpPr>
        <a:xfrm>
          <a:off x="0" y="0"/>
          <a:ext cx="0" cy="0"/>
          <a:chOff x="0" y="0"/>
          <a:chExt cx="0" cy="0"/>
        </a:xfrm>
      </p:grpSpPr>
      <p:sp>
        <p:nvSpPr>
          <p:cNvPr id="4" name="TextBox 4"/>
          <p:cNvSpPr txBox="1"/>
          <p:nvPr/>
        </p:nvSpPr>
        <p:spPr>
          <a:xfrm>
            <a:off x="14271739" y="-421995"/>
            <a:ext cx="4839766" cy="5175278"/>
          </a:xfrm>
          <a:prstGeom prst="rect">
            <a:avLst/>
          </a:prstGeom>
        </p:spPr>
        <p:txBody>
          <a:bodyPr lIns="50800" tIns="50800" rIns="50800" bIns="50800" rtlCol="0" anchor="ctr"/>
          <a:lstStyle/>
          <a:p>
            <a:pPr algn="ctr">
              <a:lnSpc>
                <a:spcPts val="2659"/>
              </a:lnSpc>
              <a:spcBef>
                <a:spcPct val="0"/>
              </a:spcBef>
            </a:pPr>
            <a:endParaRPr dirty="0"/>
          </a:p>
        </p:txBody>
      </p:sp>
      <p:sp>
        <p:nvSpPr>
          <p:cNvPr id="5" name="Freeform 5"/>
          <p:cNvSpPr/>
          <p:nvPr/>
        </p:nvSpPr>
        <p:spPr>
          <a:xfrm rot="-744945">
            <a:off x="-1031935" y="8070214"/>
            <a:ext cx="3627734" cy="4306649"/>
          </a:xfrm>
          <a:custGeom>
            <a:avLst/>
            <a:gdLst/>
            <a:ahLst/>
            <a:cxnLst/>
            <a:rect l="l" t="t" r="r" b="b"/>
            <a:pathLst>
              <a:path w="3627734" h="4306649">
                <a:moveTo>
                  <a:pt x="0" y="0"/>
                </a:moveTo>
                <a:lnTo>
                  <a:pt x="3627734" y="0"/>
                </a:lnTo>
                <a:lnTo>
                  <a:pt x="3627734" y="4306649"/>
                </a:lnTo>
                <a:lnTo>
                  <a:pt x="0" y="430664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rot="8839705">
            <a:off x="-1677334" y="-1741991"/>
            <a:ext cx="5177737" cy="3982150"/>
          </a:xfrm>
          <a:custGeom>
            <a:avLst/>
            <a:gdLst/>
            <a:ahLst/>
            <a:cxnLst/>
            <a:rect l="l" t="t" r="r" b="b"/>
            <a:pathLst>
              <a:path w="5177737" h="3982150">
                <a:moveTo>
                  <a:pt x="0" y="0"/>
                </a:moveTo>
                <a:lnTo>
                  <a:pt x="5177737" y="0"/>
                </a:lnTo>
                <a:lnTo>
                  <a:pt x="5177737" y="3982151"/>
                </a:lnTo>
                <a:lnTo>
                  <a:pt x="0" y="398215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3" name="Freeform 13"/>
          <p:cNvSpPr/>
          <p:nvPr/>
        </p:nvSpPr>
        <p:spPr>
          <a:xfrm>
            <a:off x="16535400" y="308034"/>
            <a:ext cx="747791" cy="747791"/>
          </a:xfrm>
          <a:custGeom>
            <a:avLst/>
            <a:gdLst/>
            <a:ahLst/>
            <a:cxnLst/>
            <a:rect l="l" t="t" r="r" b="b"/>
            <a:pathLst>
              <a:path w="747791" h="747791">
                <a:moveTo>
                  <a:pt x="0" y="0"/>
                </a:moveTo>
                <a:lnTo>
                  <a:pt x="747791" y="0"/>
                </a:lnTo>
                <a:lnTo>
                  <a:pt x="747791" y="747791"/>
                </a:lnTo>
                <a:lnTo>
                  <a:pt x="0" y="7477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4" name="Freeform 14"/>
          <p:cNvSpPr/>
          <p:nvPr/>
        </p:nvSpPr>
        <p:spPr>
          <a:xfrm>
            <a:off x="3352800" y="8915281"/>
            <a:ext cx="650849" cy="650849"/>
          </a:xfrm>
          <a:custGeom>
            <a:avLst/>
            <a:gdLst/>
            <a:ahLst/>
            <a:cxnLst/>
            <a:rect l="l" t="t" r="r" b="b"/>
            <a:pathLst>
              <a:path w="650849" h="650849">
                <a:moveTo>
                  <a:pt x="0" y="0"/>
                </a:moveTo>
                <a:lnTo>
                  <a:pt x="650850" y="0"/>
                </a:lnTo>
                <a:lnTo>
                  <a:pt x="650850" y="650849"/>
                </a:lnTo>
                <a:lnTo>
                  <a:pt x="0" y="65084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5" name="TextBox 15"/>
          <p:cNvSpPr txBox="1"/>
          <p:nvPr/>
        </p:nvSpPr>
        <p:spPr>
          <a:xfrm>
            <a:off x="4414508" y="380974"/>
            <a:ext cx="10989061" cy="1413336"/>
          </a:xfrm>
          <a:prstGeom prst="rect">
            <a:avLst/>
          </a:prstGeom>
        </p:spPr>
        <p:txBody>
          <a:bodyPr wrap="square" lIns="0" tIns="0" rIns="0" bIns="0" rtlCol="0" anchor="t">
            <a:spAutoFit/>
          </a:bodyPr>
          <a:lstStyle/>
          <a:p>
            <a:pPr algn="l">
              <a:lnSpc>
                <a:spcPts val="12740"/>
              </a:lnSpc>
            </a:pPr>
            <a:r>
              <a:rPr lang="en-US" sz="6000" spc="-327" dirty="0">
                <a:solidFill>
                  <a:srgbClr val="54372A"/>
                </a:solidFill>
                <a:latin typeface="Yeseva One"/>
                <a:ea typeface="Yeseva One"/>
                <a:cs typeface="Yeseva One"/>
                <a:sym typeface="Yeseva One"/>
              </a:rPr>
              <a:t>Technologies &amp; Key Features </a:t>
            </a:r>
          </a:p>
        </p:txBody>
      </p:sp>
      <p:sp>
        <p:nvSpPr>
          <p:cNvPr id="19" name="TextBox 18">
            <a:extLst>
              <a:ext uri="{FF2B5EF4-FFF2-40B4-BE49-F238E27FC236}">
                <a16:creationId xmlns:a16="http://schemas.microsoft.com/office/drawing/2014/main" id="{C4729F22-5AA0-9A34-FC2E-B39AFD81C197}"/>
              </a:ext>
            </a:extLst>
          </p:cNvPr>
          <p:cNvSpPr txBox="1"/>
          <p:nvPr/>
        </p:nvSpPr>
        <p:spPr>
          <a:xfrm>
            <a:off x="781932" y="3624682"/>
            <a:ext cx="10732956" cy="3785652"/>
          </a:xfrm>
          <a:prstGeom prst="rect">
            <a:avLst/>
          </a:prstGeom>
          <a:noFill/>
        </p:spPr>
        <p:txBody>
          <a:bodyPr wrap="square">
            <a:spAutoFit/>
          </a:bodyPr>
          <a:lstStyle/>
          <a:p>
            <a:r>
              <a:rPr lang="en-IN" sz="4000" dirty="0"/>
              <a:t> </a:t>
            </a:r>
            <a:r>
              <a:rPr lang="en-IN" sz="4000" dirty="0">
                <a:solidFill>
                  <a:schemeClr val="accent4">
                    <a:lumMod val="50000"/>
                  </a:schemeClr>
                </a:solidFill>
              </a:rPr>
              <a:t>Technologies Used : </a:t>
            </a:r>
          </a:p>
          <a:p>
            <a:pPr marL="571500" indent="-571500">
              <a:buFont typeface="Arial" panose="020B0604020202020204" pitchFamily="34" charset="0"/>
              <a:buChar char="•"/>
            </a:pPr>
            <a:r>
              <a:rPr lang="en-IN" sz="4000" dirty="0">
                <a:solidFill>
                  <a:schemeClr val="accent4">
                    <a:lumMod val="50000"/>
                  </a:schemeClr>
                </a:solidFill>
              </a:rPr>
              <a:t>Speech Recognition Technology</a:t>
            </a:r>
          </a:p>
          <a:p>
            <a:pPr marL="571500" indent="-571500">
              <a:buFont typeface="Arial" panose="020B0604020202020204" pitchFamily="34" charset="0"/>
              <a:buChar char="•"/>
            </a:pPr>
            <a:r>
              <a:rPr lang="en-IN" sz="4000" dirty="0">
                <a:solidFill>
                  <a:schemeClr val="accent4">
                    <a:lumMod val="50000"/>
                  </a:schemeClr>
                </a:solidFill>
              </a:rPr>
              <a:t>Natural Language Processing (NLP)</a:t>
            </a:r>
          </a:p>
          <a:p>
            <a:pPr marL="571500" indent="-571500">
              <a:buFont typeface="Arial" panose="020B0604020202020204" pitchFamily="34" charset="0"/>
              <a:buChar char="•"/>
            </a:pPr>
            <a:r>
              <a:rPr lang="en-IN" sz="4000" dirty="0">
                <a:solidFill>
                  <a:schemeClr val="accent4">
                    <a:lumMod val="50000"/>
                  </a:schemeClr>
                </a:solidFill>
              </a:rPr>
              <a:t>Machine Learning Algorithms</a:t>
            </a:r>
          </a:p>
          <a:p>
            <a:pPr marL="571500" indent="-571500">
              <a:buFont typeface="Arial" panose="020B0604020202020204" pitchFamily="34" charset="0"/>
              <a:buChar char="•"/>
            </a:pPr>
            <a:r>
              <a:rPr lang="en-IN" sz="4000" dirty="0">
                <a:solidFill>
                  <a:schemeClr val="accent4">
                    <a:lumMod val="50000"/>
                  </a:schemeClr>
                </a:solidFill>
              </a:rPr>
              <a:t>Real-Time Audio Processing</a:t>
            </a:r>
          </a:p>
          <a:p>
            <a:pPr marL="571500" indent="-571500">
              <a:buFont typeface="Arial" panose="020B0604020202020204" pitchFamily="34" charset="0"/>
              <a:buChar char="•"/>
            </a:pPr>
            <a:r>
              <a:rPr lang="en-IN" sz="4000" dirty="0">
                <a:solidFill>
                  <a:schemeClr val="accent4">
                    <a:lumMod val="50000"/>
                  </a:schemeClr>
                </a:solidFill>
              </a:rPr>
              <a:t>PowerPoint Integration</a:t>
            </a:r>
          </a:p>
        </p:txBody>
      </p:sp>
      <p:sp>
        <p:nvSpPr>
          <p:cNvPr id="21" name="TextBox 20">
            <a:extLst>
              <a:ext uri="{FF2B5EF4-FFF2-40B4-BE49-F238E27FC236}">
                <a16:creationId xmlns:a16="http://schemas.microsoft.com/office/drawing/2014/main" id="{186935AB-F942-367C-EA22-5E8712C84D6D}"/>
              </a:ext>
            </a:extLst>
          </p:cNvPr>
          <p:cNvSpPr txBox="1"/>
          <p:nvPr/>
        </p:nvSpPr>
        <p:spPr>
          <a:xfrm>
            <a:off x="9753600" y="3657785"/>
            <a:ext cx="8766682" cy="3785652"/>
          </a:xfrm>
          <a:prstGeom prst="rect">
            <a:avLst/>
          </a:prstGeom>
          <a:noFill/>
        </p:spPr>
        <p:txBody>
          <a:bodyPr wrap="square">
            <a:spAutoFit/>
          </a:bodyPr>
          <a:lstStyle/>
          <a:p>
            <a:r>
              <a:rPr lang="en-IN" sz="4000" dirty="0">
                <a:solidFill>
                  <a:schemeClr val="accent4">
                    <a:lumMod val="50000"/>
                  </a:schemeClr>
                </a:solidFill>
              </a:rPr>
              <a:t>Key Features : </a:t>
            </a:r>
          </a:p>
          <a:p>
            <a:pPr marL="571500" indent="-571500">
              <a:buFont typeface="Arial" panose="020B0604020202020204" pitchFamily="34" charset="0"/>
              <a:buChar char="•"/>
            </a:pPr>
            <a:r>
              <a:rPr lang="en-IN" sz="4000" dirty="0">
                <a:solidFill>
                  <a:schemeClr val="accent4">
                    <a:lumMod val="50000"/>
                  </a:schemeClr>
                </a:solidFill>
              </a:rPr>
              <a:t>Real-time speech monitoring</a:t>
            </a:r>
          </a:p>
          <a:p>
            <a:pPr marL="571500" indent="-571500">
              <a:buFont typeface="Arial" panose="020B0604020202020204" pitchFamily="34" charset="0"/>
              <a:buChar char="•"/>
            </a:pPr>
            <a:r>
              <a:rPr lang="en-IN" sz="4000" dirty="0">
                <a:solidFill>
                  <a:schemeClr val="accent4">
                    <a:lumMod val="50000"/>
                  </a:schemeClr>
                </a:solidFill>
              </a:rPr>
              <a:t>Detection of filler words</a:t>
            </a:r>
          </a:p>
          <a:p>
            <a:pPr marL="571500" indent="-571500">
              <a:buFont typeface="Arial" panose="020B0604020202020204" pitchFamily="34" charset="0"/>
              <a:buChar char="•"/>
            </a:pPr>
            <a:r>
              <a:rPr lang="en-IN" sz="4000" dirty="0">
                <a:solidFill>
                  <a:schemeClr val="accent4">
                    <a:lumMod val="50000"/>
                  </a:schemeClr>
                </a:solidFill>
              </a:rPr>
              <a:t>Speech pace analysis</a:t>
            </a:r>
          </a:p>
          <a:p>
            <a:pPr marL="571500" indent="-571500">
              <a:buFont typeface="Arial" panose="020B0604020202020204" pitchFamily="34" charset="0"/>
              <a:buChar char="•"/>
            </a:pPr>
            <a:r>
              <a:rPr lang="en-IN" sz="4000" dirty="0">
                <a:solidFill>
                  <a:schemeClr val="accent4">
                    <a:lumMod val="50000"/>
                  </a:schemeClr>
                </a:solidFill>
              </a:rPr>
              <a:t>Confidence score generation</a:t>
            </a:r>
          </a:p>
          <a:p>
            <a:pPr marL="571500" indent="-571500">
              <a:buFont typeface="Arial" panose="020B0604020202020204" pitchFamily="34" charset="0"/>
              <a:buChar char="•"/>
            </a:pPr>
            <a:r>
              <a:rPr lang="en-IN" sz="4000" dirty="0">
                <a:solidFill>
                  <a:schemeClr val="accent4">
                    <a:lumMod val="50000"/>
                  </a:schemeClr>
                </a:solidFill>
              </a:rPr>
              <a:t>Instant improvement suggestions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9F4"/>
        </a:solidFill>
        <a:effectLst/>
      </p:bgPr>
    </p:bg>
    <p:spTree>
      <p:nvGrpSpPr>
        <p:cNvPr id="1" name=""/>
        <p:cNvGrpSpPr/>
        <p:nvPr/>
      </p:nvGrpSpPr>
      <p:grpSpPr>
        <a:xfrm>
          <a:off x="0" y="0"/>
          <a:ext cx="0" cy="0"/>
          <a:chOff x="0" y="0"/>
          <a:chExt cx="0" cy="0"/>
        </a:xfrm>
      </p:grpSpPr>
      <p:sp>
        <p:nvSpPr>
          <p:cNvPr id="10" name="Freeform 10"/>
          <p:cNvSpPr/>
          <p:nvPr/>
        </p:nvSpPr>
        <p:spPr>
          <a:xfrm rot="8839705">
            <a:off x="-1677334" y="-1741991"/>
            <a:ext cx="5177737" cy="3982150"/>
          </a:xfrm>
          <a:custGeom>
            <a:avLst/>
            <a:gdLst/>
            <a:ahLst/>
            <a:cxnLst/>
            <a:rect l="l" t="t" r="r" b="b"/>
            <a:pathLst>
              <a:path w="5177737" h="3982150">
                <a:moveTo>
                  <a:pt x="0" y="0"/>
                </a:moveTo>
                <a:lnTo>
                  <a:pt x="5177737" y="0"/>
                </a:lnTo>
                <a:lnTo>
                  <a:pt x="5177737" y="3982151"/>
                </a:lnTo>
                <a:lnTo>
                  <a:pt x="0" y="398215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TextBox 2">
            <a:extLst>
              <a:ext uri="{FF2B5EF4-FFF2-40B4-BE49-F238E27FC236}">
                <a16:creationId xmlns:a16="http://schemas.microsoft.com/office/drawing/2014/main" id="{66B9AD44-A264-4E35-E373-F67DA54498EC}"/>
              </a:ext>
            </a:extLst>
          </p:cNvPr>
          <p:cNvSpPr txBox="1"/>
          <p:nvPr/>
        </p:nvSpPr>
        <p:spPr>
          <a:xfrm>
            <a:off x="5114179" y="8120"/>
            <a:ext cx="11609882" cy="1505669"/>
          </a:xfrm>
          <a:prstGeom prst="rect">
            <a:avLst/>
          </a:prstGeom>
          <a:noFill/>
        </p:spPr>
        <p:txBody>
          <a:bodyPr wrap="square">
            <a:spAutoFit/>
          </a:bodyPr>
          <a:lstStyle/>
          <a:p>
            <a:pPr algn="l">
              <a:lnSpc>
                <a:spcPts val="12740"/>
              </a:lnSpc>
            </a:pPr>
            <a:r>
              <a:rPr lang="en-US" sz="6000" spc="-327" dirty="0">
                <a:solidFill>
                  <a:srgbClr val="54372A"/>
                </a:solidFill>
                <a:latin typeface="Yeseva One"/>
                <a:ea typeface="Yeseva One"/>
                <a:cs typeface="Yeseva One"/>
                <a:sym typeface="Yeseva One"/>
              </a:rPr>
              <a:t>Architecture Diagram </a:t>
            </a:r>
          </a:p>
        </p:txBody>
      </p:sp>
      <p:pic>
        <p:nvPicPr>
          <p:cNvPr id="9" name="Picture 8" descr="A diagram of a software development&#10;&#10;AI-generated content may be incorrect.">
            <a:extLst>
              <a:ext uri="{FF2B5EF4-FFF2-40B4-BE49-F238E27FC236}">
                <a16:creationId xmlns:a16="http://schemas.microsoft.com/office/drawing/2014/main" id="{8C3AAE9A-5F81-6387-9EA4-D423EE94E5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2200" y="2061380"/>
            <a:ext cx="14630400" cy="830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9F4"/>
        </a:solidFill>
        <a:effectLst/>
      </p:bgPr>
    </p:bg>
    <p:spTree>
      <p:nvGrpSpPr>
        <p:cNvPr id="1" name=""/>
        <p:cNvGrpSpPr/>
        <p:nvPr/>
      </p:nvGrpSpPr>
      <p:grpSpPr>
        <a:xfrm>
          <a:off x="0" y="0"/>
          <a:ext cx="0" cy="0"/>
          <a:chOff x="0" y="0"/>
          <a:chExt cx="0" cy="0"/>
        </a:xfrm>
      </p:grpSpPr>
      <p:sp>
        <p:nvSpPr>
          <p:cNvPr id="5" name="Freeform 5"/>
          <p:cNvSpPr/>
          <p:nvPr/>
        </p:nvSpPr>
        <p:spPr>
          <a:xfrm rot="-744945">
            <a:off x="-1031935" y="8070214"/>
            <a:ext cx="3627734" cy="4306649"/>
          </a:xfrm>
          <a:custGeom>
            <a:avLst/>
            <a:gdLst/>
            <a:ahLst/>
            <a:cxnLst/>
            <a:rect l="l" t="t" r="r" b="b"/>
            <a:pathLst>
              <a:path w="3627734" h="4306649">
                <a:moveTo>
                  <a:pt x="0" y="0"/>
                </a:moveTo>
                <a:lnTo>
                  <a:pt x="3627734" y="0"/>
                </a:lnTo>
                <a:lnTo>
                  <a:pt x="3627734" y="4306649"/>
                </a:lnTo>
                <a:lnTo>
                  <a:pt x="0" y="430664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7" name="Freeform 7"/>
          <p:cNvSpPr/>
          <p:nvPr/>
        </p:nvSpPr>
        <p:spPr>
          <a:xfrm rot="8839705">
            <a:off x="-1677334" y="-1741991"/>
            <a:ext cx="5177737" cy="3982150"/>
          </a:xfrm>
          <a:custGeom>
            <a:avLst/>
            <a:gdLst/>
            <a:ahLst/>
            <a:cxnLst/>
            <a:rect l="l" t="t" r="r" b="b"/>
            <a:pathLst>
              <a:path w="5177737" h="3982150">
                <a:moveTo>
                  <a:pt x="0" y="0"/>
                </a:moveTo>
                <a:lnTo>
                  <a:pt x="5177737" y="0"/>
                </a:lnTo>
                <a:lnTo>
                  <a:pt x="5177737" y="3982151"/>
                </a:lnTo>
                <a:lnTo>
                  <a:pt x="0" y="39821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sp>
        <p:nvSpPr>
          <p:cNvPr id="2" name="TextBox 1">
            <a:extLst>
              <a:ext uri="{FF2B5EF4-FFF2-40B4-BE49-F238E27FC236}">
                <a16:creationId xmlns:a16="http://schemas.microsoft.com/office/drawing/2014/main" id="{BBF1DFE0-355C-E500-6784-5557D30A87FD}"/>
              </a:ext>
            </a:extLst>
          </p:cNvPr>
          <p:cNvSpPr txBox="1"/>
          <p:nvPr/>
        </p:nvSpPr>
        <p:spPr>
          <a:xfrm>
            <a:off x="2514600" y="2400300"/>
            <a:ext cx="13258800" cy="5786199"/>
          </a:xfrm>
          <a:prstGeom prst="rect">
            <a:avLst/>
          </a:prstGeom>
          <a:noFill/>
        </p:spPr>
        <p:txBody>
          <a:bodyPr wrap="square" rtlCol="0">
            <a:spAutoFit/>
          </a:bodyPr>
          <a:lstStyle/>
          <a:p>
            <a:r>
              <a:rPr lang="en-IN" sz="3200" dirty="0"/>
              <a:t>[1] Y. Chen et al., “</a:t>
            </a:r>
            <a:r>
              <a:rPr lang="en-IN" sz="3200" dirty="0" err="1"/>
              <a:t>PresentCoach</a:t>
            </a:r>
            <a:r>
              <a:rPr lang="en-IN" sz="3200" dirty="0"/>
              <a:t>: Dual-Agent Presentation Coaching through Exemplars and Interactive Feedback,” </a:t>
            </a:r>
            <a:r>
              <a:rPr lang="en-IN" sz="3200" i="1" dirty="0" err="1"/>
              <a:t>arXiv</a:t>
            </a:r>
            <a:r>
              <a:rPr lang="en-IN" sz="3200" i="1" dirty="0"/>
              <a:t> preprint arXiv:2511.15253</a:t>
            </a:r>
            <a:r>
              <a:rPr lang="en-IN" sz="3200" dirty="0"/>
              <a:t>, 2025.</a:t>
            </a:r>
          </a:p>
          <a:p>
            <a:r>
              <a:rPr lang="en-IN" sz="3200" dirty="0"/>
              <a:t>[2] A. Sharma et al., “Voice AI-Intelligence Based Voice Assistant,” </a:t>
            </a:r>
            <a:r>
              <a:rPr lang="en-IN" sz="3200" i="1" dirty="0"/>
              <a:t>IEEE Conference Publication</a:t>
            </a:r>
            <a:r>
              <a:rPr lang="en-IN" sz="3200" dirty="0"/>
              <a:t>, 2024.</a:t>
            </a:r>
          </a:p>
          <a:p>
            <a:r>
              <a:rPr lang="en-IN" sz="3200" dirty="0"/>
              <a:t>[3] S. Kumar and R. Patel, “Development of an AI-Powered Voice Assistant: Enhancing Speech Recognition and User Interaction,” </a:t>
            </a:r>
            <a:r>
              <a:rPr lang="en-IN" sz="3200" i="1" dirty="0"/>
              <a:t>International Journal of Scientific Research in Engineering and Technology</a:t>
            </a:r>
            <a:r>
              <a:rPr lang="en-IN" sz="3200" dirty="0"/>
              <a:t>, 2025.</a:t>
            </a:r>
          </a:p>
          <a:p>
            <a:r>
              <a:rPr lang="en-IN" sz="3200" dirty="0"/>
              <a:t>[4] </a:t>
            </a:r>
            <a:r>
              <a:rPr lang="en-IN" sz="3200" dirty="0" err="1"/>
              <a:t>SlideWhisper</a:t>
            </a:r>
            <a:r>
              <a:rPr lang="en-IN" sz="3200" dirty="0"/>
              <a:t>, “AI-Narrated Presentations with Live Q&amp;A,” 2024. [Online]. Available: </a:t>
            </a:r>
            <a:r>
              <a:rPr lang="en-IN" sz="3200" dirty="0">
                <a:hlinkClick r:id="rId7"/>
              </a:rPr>
              <a:t>https://www.slidewhisper.com</a:t>
            </a:r>
            <a:endParaRPr lang="en-IN" sz="3200" dirty="0"/>
          </a:p>
          <a:p>
            <a:r>
              <a:rPr lang="en-IN" sz="3200" dirty="0"/>
              <a:t>[5] Plus AI, “Presentation Narrator Feature,” 2024. [Online]. Available: </a:t>
            </a:r>
            <a:r>
              <a:rPr lang="en-IN" sz="3200" dirty="0">
                <a:hlinkClick r:id="rId8"/>
              </a:rPr>
              <a:t>https://www.plusai.com</a:t>
            </a:r>
            <a:endParaRPr lang="en-IN" sz="3200" dirty="0"/>
          </a:p>
          <a:p>
            <a:endParaRPr lang="en-IN" dirty="0"/>
          </a:p>
        </p:txBody>
      </p:sp>
      <p:sp>
        <p:nvSpPr>
          <p:cNvPr id="3" name="TextBox 2">
            <a:extLst>
              <a:ext uri="{FF2B5EF4-FFF2-40B4-BE49-F238E27FC236}">
                <a16:creationId xmlns:a16="http://schemas.microsoft.com/office/drawing/2014/main" id="{146C5C5A-E2F9-053D-952A-3F1C351E9ACA}"/>
              </a:ext>
            </a:extLst>
          </p:cNvPr>
          <p:cNvSpPr txBox="1"/>
          <p:nvPr/>
        </p:nvSpPr>
        <p:spPr>
          <a:xfrm>
            <a:off x="5105400" y="876300"/>
            <a:ext cx="6705600" cy="1200329"/>
          </a:xfrm>
          <a:prstGeom prst="rect">
            <a:avLst/>
          </a:prstGeom>
          <a:noFill/>
        </p:spPr>
        <p:txBody>
          <a:bodyPr wrap="square" rtlCol="0">
            <a:spAutoFit/>
          </a:bodyPr>
          <a:lstStyle/>
          <a:p>
            <a:r>
              <a:rPr lang="en-IN" sz="7200" b="1" dirty="0"/>
              <a:t>REFERENCES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9F4"/>
        </a:solidFill>
        <a:effectLst/>
      </p:bgPr>
    </p:bg>
    <p:spTree>
      <p:nvGrpSpPr>
        <p:cNvPr id="1" name=""/>
        <p:cNvGrpSpPr/>
        <p:nvPr/>
      </p:nvGrpSpPr>
      <p:grpSpPr>
        <a:xfrm>
          <a:off x="0" y="0"/>
          <a:ext cx="0" cy="0"/>
          <a:chOff x="0" y="0"/>
          <a:chExt cx="0" cy="0"/>
        </a:xfrm>
      </p:grpSpPr>
      <p:grpSp>
        <p:nvGrpSpPr>
          <p:cNvPr id="2" name="Group 2"/>
          <p:cNvGrpSpPr/>
          <p:nvPr/>
        </p:nvGrpSpPr>
        <p:grpSpPr>
          <a:xfrm>
            <a:off x="-96743" y="0"/>
            <a:ext cx="5049377" cy="10287000"/>
            <a:chOff x="0" y="0"/>
            <a:chExt cx="1329877" cy="2709333"/>
          </a:xfrm>
        </p:grpSpPr>
        <p:sp>
          <p:nvSpPr>
            <p:cNvPr id="3" name="Freeform 3"/>
            <p:cNvSpPr/>
            <p:nvPr/>
          </p:nvSpPr>
          <p:spPr>
            <a:xfrm>
              <a:off x="0" y="0"/>
              <a:ext cx="1329877" cy="2709333"/>
            </a:xfrm>
            <a:custGeom>
              <a:avLst/>
              <a:gdLst/>
              <a:ahLst/>
              <a:cxnLst/>
              <a:rect l="l" t="t" r="r" b="b"/>
              <a:pathLst>
                <a:path w="1329877" h="2709333">
                  <a:moveTo>
                    <a:pt x="0" y="0"/>
                  </a:moveTo>
                  <a:lnTo>
                    <a:pt x="1329877" y="0"/>
                  </a:lnTo>
                  <a:lnTo>
                    <a:pt x="1329877" y="2709333"/>
                  </a:lnTo>
                  <a:lnTo>
                    <a:pt x="0" y="2709333"/>
                  </a:lnTo>
                  <a:close/>
                </a:path>
              </a:pathLst>
            </a:custGeom>
            <a:solidFill>
              <a:srgbClr val="E0D2C7"/>
            </a:solidFill>
          </p:spPr>
          <p:txBody>
            <a:bodyPr/>
            <a:lstStyle/>
            <a:p>
              <a:endParaRPr lang="en-IN"/>
            </a:p>
          </p:txBody>
        </p:sp>
        <p:sp>
          <p:nvSpPr>
            <p:cNvPr id="4" name="TextBox 4"/>
            <p:cNvSpPr txBox="1"/>
            <p:nvPr/>
          </p:nvSpPr>
          <p:spPr>
            <a:xfrm>
              <a:off x="0" y="-38100"/>
              <a:ext cx="1329877" cy="2747433"/>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8242925" y="3594438"/>
            <a:ext cx="8629139" cy="2331086"/>
          </a:xfrm>
          <a:prstGeom prst="rect">
            <a:avLst/>
          </a:prstGeom>
        </p:spPr>
        <p:txBody>
          <a:bodyPr lIns="0" tIns="0" rIns="0" bIns="0" rtlCol="0" anchor="t">
            <a:spAutoFit/>
          </a:bodyPr>
          <a:lstStyle/>
          <a:p>
            <a:pPr algn="l">
              <a:lnSpc>
                <a:spcPts val="19039"/>
              </a:lnSpc>
            </a:pPr>
            <a:r>
              <a:rPr lang="en-US" sz="13599" dirty="0">
                <a:solidFill>
                  <a:srgbClr val="54372A"/>
                </a:solidFill>
                <a:latin typeface="Stars &amp; Love Bottom Heavy"/>
                <a:ea typeface="Stars &amp; Love Bottom Heavy"/>
                <a:cs typeface="Stars &amp; Love Bottom Heavy"/>
                <a:sym typeface="Stars &amp; Love Bottom Heavy"/>
              </a:rPr>
              <a:t>Thank You</a:t>
            </a:r>
          </a:p>
        </p:txBody>
      </p:sp>
      <p:sp>
        <p:nvSpPr>
          <p:cNvPr id="15" name="Freeform 15"/>
          <p:cNvSpPr/>
          <p:nvPr/>
        </p:nvSpPr>
        <p:spPr>
          <a:xfrm rot="-1020867">
            <a:off x="14884963" y="8555322"/>
            <a:ext cx="4630899" cy="3561583"/>
          </a:xfrm>
          <a:custGeom>
            <a:avLst/>
            <a:gdLst/>
            <a:ahLst/>
            <a:cxnLst/>
            <a:rect l="l" t="t" r="r" b="b"/>
            <a:pathLst>
              <a:path w="4630899" h="3561583">
                <a:moveTo>
                  <a:pt x="0" y="0"/>
                </a:moveTo>
                <a:lnTo>
                  <a:pt x="4630900" y="0"/>
                </a:lnTo>
                <a:lnTo>
                  <a:pt x="4630900" y="3561582"/>
                </a:lnTo>
                <a:lnTo>
                  <a:pt x="0" y="35615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p:cNvSpPr/>
          <p:nvPr/>
        </p:nvSpPr>
        <p:spPr>
          <a:xfrm rot="8839705">
            <a:off x="-1747589" y="-1561122"/>
            <a:ext cx="4630899" cy="3561583"/>
          </a:xfrm>
          <a:custGeom>
            <a:avLst/>
            <a:gdLst/>
            <a:ahLst/>
            <a:cxnLst/>
            <a:rect l="l" t="t" r="r" b="b"/>
            <a:pathLst>
              <a:path w="4630899" h="3561583">
                <a:moveTo>
                  <a:pt x="0" y="0"/>
                </a:moveTo>
                <a:lnTo>
                  <a:pt x="4630899" y="0"/>
                </a:lnTo>
                <a:lnTo>
                  <a:pt x="4630899" y="3561583"/>
                </a:lnTo>
                <a:lnTo>
                  <a:pt x="0" y="35615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7" name="Freeform 17"/>
          <p:cNvSpPr/>
          <p:nvPr/>
        </p:nvSpPr>
        <p:spPr>
          <a:xfrm>
            <a:off x="16549563" y="1258733"/>
            <a:ext cx="650849" cy="650849"/>
          </a:xfrm>
          <a:custGeom>
            <a:avLst/>
            <a:gdLst/>
            <a:ahLst/>
            <a:cxnLst/>
            <a:rect l="l" t="t" r="r" b="b"/>
            <a:pathLst>
              <a:path w="650849" h="650849">
                <a:moveTo>
                  <a:pt x="0" y="0"/>
                </a:moveTo>
                <a:lnTo>
                  <a:pt x="650850" y="0"/>
                </a:lnTo>
                <a:lnTo>
                  <a:pt x="650850" y="650850"/>
                </a:lnTo>
                <a:lnTo>
                  <a:pt x="0" y="6508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8" name="Freeform 18"/>
          <p:cNvSpPr/>
          <p:nvPr/>
        </p:nvSpPr>
        <p:spPr>
          <a:xfrm>
            <a:off x="7721066" y="8268849"/>
            <a:ext cx="650849" cy="650849"/>
          </a:xfrm>
          <a:custGeom>
            <a:avLst/>
            <a:gdLst/>
            <a:ahLst/>
            <a:cxnLst/>
            <a:rect l="l" t="t" r="r" b="b"/>
            <a:pathLst>
              <a:path w="650849" h="650849">
                <a:moveTo>
                  <a:pt x="0" y="0"/>
                </a:moveTo>
                <a:lnTo>
                  <a:pt x="650850" y="0"/>
                </a:lnTo>
                <a:lnTo>
                  <a:pt x="650850" y="650850"/>
                </a:lnTo>
                <a:lnTo>
                  <a:pt x="0" y="65085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TotalTime>
  <Words>562</Words>
  <Application>Microsoft Office PowerPoint</Application>
  <PresentationFormat>Custom</PresentationFormat>
  <Paragraphs>48</Paragraphs>
  <Slides>9</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Arial</vt:lpstr>
      <vt:lpstr>Wingdings</vt:lpstr>
      <vt:lpstr>Yeseva One</vt:lpstr>
      <vt:lpstr>Aptos</vt:lpstr>
      <vt:lpstr>Sitka Text</vt:lpstr>
      <vt:lpstr>Sylfaen</vt:lpstr>
      <vt:lpstr>Sitka Text Semibold</vt:lpstr>
      <vt:lpstr>Calibri</vt:lpstr>
      <vt:lpstr>Stars &amp; Love Bottom Heavy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RITHISH VIKRAM</dc:creator>
  <cp:lastModifiedBy>Ejjigiri Kavya</cp:lastModifiedBy>
  <cp:revision>5</cp:revision>
  <dcterms:created xsi:type="dcterms:W3CDTF">2006-08-16T00:00:00Z</dcterms:created>
  <dcterms:modified xsi:type="dcterms:W3CDTF">2026-02-25T13:26:27Z</dcterms:modified>
  <dc:identifier>DAHBqK4j_ew</dc:identifier>
</cp:coreProperties>
</file>